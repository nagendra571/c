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272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F08A24"/>
          </a:solidFill>
          <a:ln w="12700">
            <a:solidFill>
              <a:srgbClr val="F08A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274320" y="6355080"/>
            <a:ext cx="11612880" cy="18288"/>
          </a:xfrm>
          <a:prstGeom prst="rect">
            <a:avLst/>
          </a:prstGeom>
          <a:solidFill>
            <a:srgbClr val="E7D7C8"/>
          </a:solidFill>
          <a:ln w="12700">
            <a:solidFill>
              <a:srgbClr val="E7D7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51560"/>
            <a:ext cx="10972800" cy="530352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2700">
            <a:solidFill>
              <a:srgbClr val="DCCB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1508760"/>
            <a:ext cx="8778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F17"/>
                </a:solidFill>
              </a:rPr>
              <a:t>Bridge Lesson Before “Hello World”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5848"/>
                </a:solidFill>
              </a:rPr>
              <a:t>Clearing the confusion around .c files, .h files, main(), semicolons, curly braces, return types, include, and variable scope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3657600"/>
            <a:ext cx="5943600" cy="9144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3767328"/>
            <a:ext cx="561441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A1F17"/>
                </a:solidFill>
              </a:rPr>
              <a:t>Goal: remove the “magic feeling” and make each part of C feel logical 😊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4754880"/>
            <a:ext cx="7498080" cy="868680"/>
          </a:xfrm>
          <a:prstGeom prst="roundRect">
            <a:avLst>
              <a:gd name="adj" fmla="val 8421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8992" y="4864608"/>
            <a:ext cx="7168896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A1F17"/>
                </a:solidFill>
              </a:rPr>
              <a:t>We will go in one meaningful order: files → functions → braces → include → scope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F17"/>
                </a:solidFill>
              </a:rPr>
              <a:t>Why students get confused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848"/>
                </a:solidFill>
              </a:rPr>
              <a:t>Most mistakes are not “carelessness”; they come from missing the bigger picture.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0F0"/>
          </a:solidFill>
          <a:ln w="12700">
            <a:solidFill>
              <a:srgbClr val="E9B7B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755648"/>
            <a:ext cx="195681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A1F17"/>
                </a:solidFill>
              </a:rPr>
              <a:t>Mistake 1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2A1F17"/>
                </a:solidFill>
              </a:rPr>
              <a:t>They see code as random lines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246120" y="16459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2700">
            <a:solidFill>
              <a:srgbClr val="B7C9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410712" y="1755648"/>
            <a:ext cx="227685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1F17"/>
                </a:solidFill>
              </a:rPr>
              <a:t>Mistake 2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2A1F17"/>
                </a:solidFill>
              </a:rPr>
              <a:t>They think include means “I can use everything”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126480" y="1645920"/>
            <a:ext cx="2560320" cy="1234440"/>
          </a:xfrm>
          <a:prstGeom prst="roundRect">
            <a:avLst>
              <a:gd name="adj" fmla="val 5926"/>
            </a:avLst>
          </a:prstGeom>
          <a:solidFill>
            <a:srgbClr val="FFF7CC"/>
          </a:solidFill>
          <a:ln w="12700">
            <a:solidFill>
              <a:srgbClr val="D7C76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91072" y="1755648"/>
            <a:ext cx="223113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A1F17"/>
                </a:solidFill>
              </a:rPr>
              <a:t>Mistake 3</a:t>
            </a:r>
            <a:endParaRPr lang="en-US" sz="1650" dirty="0"/>
          </a:p>
          <a:p>
            <a:pPr marL="0" indent="0">
              <a:buNone/>
            </a:pPr>
            <a:r>
              <a:rPr lang="en-US" sz="1650" b="1" dirty="0">
                <a:solidFill>
                  <a:srgbClr val="2A1F17"/>
                </a:solidFill>
              </a:rPr>
              <a:t>They don’t yet know the job of each file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8961120" y="1645920"/>
            <a:ext cx="2468880" cy="1234440"/>
          </a:xfrm>
          <a:prstGeom prst="roundRect">
            <a:avLst>
              <a:gd name="adj" fmla="val 5926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25712" y="1755648"/>
            <a:ext cx="213969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1F17"/>
                </a:solidFill>
              </a:rPr>
              <a:t>Mistake 4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2A1F17"/>
                </a:solidFill>
              </a:rPr>
              <a:t>They memorize printf, but not how a function is built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246120"/>
            <a:ext cx="1033272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A1F17"/>
                </a:solidFill>
              </a:rPr>
              <a:t>So first we will learn what each file is for.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A1F17"/>
                </a:solidFill>
              </a:rPr>
              <a:t>Then we will learn what a function really is.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A1F17"/>
                </a:solidFill>
              </a:rPr>
              <a:t>Then we will learn where semicolons and braces belong.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A1F17"/>
                </a:solidFill>
              </a:rPr>
              <a:t>Then we will learn what include really gives us.</a:t>
            </a:r>
            <a:endParaRPr lang="en-US" sz="2000" dirty="0"/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rgbClr val="2A1F17"/>
                </a:solidFill>
              </a:rPr>
              <a:t>Finally, we will learn scope: “who can see which variable?”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F17"/>
                </a:solidFill>
              </a:rPr>
              <a:t>First big picture: what is a .c file and what is a .h file?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87552" y="1709928"/>
            <a:ext cx="305409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1F17"/>
                </a:solidFill>
              </a:rPr>
              <a:t>.c file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7"/>
                </a:solidFill>
              </a:rPr>
              <a:t>The working room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7"/>
                </a:solidFill>
              </a:rPr>
              <a:t>Actual work is written here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38912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EAF1FF"/>
          </a:solidFill>
          <a:ln w="12700">
            <a:solidFill>
              <a:srgbClr val="B7C9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53712" y="1709928"/>
            <a:ext cx="305409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1F17"/>
                </a:solidFill>
              </a:rPr>
              <a:t>.h file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7"/>
                </a:solidFill>
              </a:rPr>
              <a:t>The introduction card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2A1F17"/>
                </a:solidFill>
              </a:rPr>
              <a:t>Tells others what tools exist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955280" y="1600200"/>
            <a:ext cx="3383280" cy="1828800"/>
          </a:xfrm>
          <a:prstGeom prst="roundRect">
            <a:avLst>
              <a:gd name="adj" fmla="val 4000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19872" y="1709928"/>
            <a:ext cx="3054096" cy="1609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1F17"/>
                </a:solidFill>
              </a:rPr>
              <a:t>Simple analogy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A1F17"/>
                </a:solidFill>
              </a:rPr>
              <a:t>A restaurant menu is like a .h file.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A1F17"/>
                </a:solidFill>
              </a:rPr>
              <a:t>The kitchen is like a .c file.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102412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2A1F17"/>
                </a:solidFill>
              </a:rPr>
              <a:t>.h says: “These functions exist.”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2A1F17"/>
                </a:solidFill>
              </a:rPr>
              <a:t>.c says: “Here is the real code for those functions.”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2A1F17"/>
                </a:solidFill>
              </a:rPr>
              <a:t>A header usually contains declarations, not the whole program.</a:t>
            </a:r>
            <a:endParaRPr lang="en-US" sz="2100" dirty="0"/>
          </a:p>
          <a:p>
            <a:pPr marL="177800" indent="-177800">
              <a:buSzPct val="100000"/>
              <a:buChar char="•"/>
            </a:pPr>
            <a:r>
              <a:rPr lang="en-US" sz="2100" dirty="0">
                <a:solidFill>
                  <a:srgbClr val="2A1F17"/>
                </a:solidFill>
              </a:rPr>
              <a:t>A source file usually contains definitions and executable logic.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F17"/>
                </a:solidFill>
              </a:rPr>
              <a:t>Where should main() go?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E5848"/>
                </a:solidFill>
              </a:rPr>
              <a:t>main() is the starting door of the program.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FF7CC"/>
          </a:solidFill>
          <a:ln w="12700">
            <a:solidFill>
              <a:srgbClr val="D7C76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572768"/>
            <a:ext cx="3465576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A1F17"/>
                </a:solidFill>
              </a:rPr>
              <a:t>Rule: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2A1F17"/>
                </a:solidFill>
              </a:rPr>
              <a:t>main() belongs in a .c file, not in a .h file.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24A4A"/>
                </a:solidFill>
              </a:rPr>
              <a:t>Wrong idea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3840480" cy="2103120"/>
          </a:xfrm>
          <a:prstGeom prst="rect">
            <a:avLst/>
          </a:prstGeom>
          <a:solidFill>
            <a:srgbClr val="FFF7F7"/>
          </a:solidFill>
          <a:ln>
            <a:solidFill>
              <a:srgbClr val="E5B0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#ifndef XYZ_H
2 #define XYZ_H
3 
4 int main() {
5     return 0;
6 }
7 
8 #endif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0" y="2651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7A53"/>
                </a:solidFill>
              </a:rPr>
              <a:t>Better idea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0" y="2926080"/>
            <a:ext cx="5394960" cy="2148840"/>
          </a:xfrm>
          <a:prstGeom prst="rect">
            <a:avLst/>
          </a:prstGeom>
          <a:solidFill>
            <a:srgbClr val="F6FFF8"/>
          </a:solidFill>
          <a:ln>
            <a:solidFill>
              <a:srgbClr val="A7D8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xyz.h
2 int add(int a, int b) { return a + b ; }
3 
4 // main.c
5 #include "xyz.h"
6 int main() {
7     return add(2,3);
8 }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539496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33272" y="5504688"/>
            <a:ext cx="954633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A1F17"/>
                </a:solidFill>
              </a:rPr>
              <a:t>Why? A header is for sharing information. main() is the actual starting engine of one program.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Function declaration vs function definition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600200"/>
            <a:ext cx="33112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Declaration = promise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3840480" cy="594360"/>
          </a:xfrm>
          <a:prstGeom prst="rect">
            <a:avLst/>
          </a:prstGeom>
          <a:solidFill>
            <a:srgbClr val="F6F9FF"/>
          </a:solidFill>
          <a:ln>
            <a:solidFill>
              <a:srgbClr val="B7C9F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int add(int a, int b);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2697480"/>
            <a:ext cx="3858768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12700">
            <a:solidFill>
              <a:srgbClr val="B7C9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078992" y="2807208"/>
            <a:ext cx="369417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says: “There exists a function named add.”</a:t>
            </a:r>
          </a:p>
        </p:txBody>
      </p:sp>
      <p:sp>
        <p:nvSpPr>
          <p:cNvPr id="7" name="Text 5"/>
          <p:cNvSpPr/>
          <p:nvPr/>
        </p:nvSpPr>
        <p:spPr>
          <a:xfrm>
            <a:off x="5577840" y="16002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Definition = real body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577840" y="1929938"/>
            <a:ext cx="4389120" cy="1097280"/>
          </a:xfrm>
          <a:prstGeom prst="rect">
            <a:avLst/>
          </a:prstGeom>
          <a:solidFill>
            <a:srgbClr val="F6FFF8"/>
          </a:solidFill>
          <a:ln>
            <a:solidFill>
              <a:srgbClr val="A7D8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int add(int a, int b) {
2     return a + b;
3 }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577840" y="3136392"/>
            <a:ext cx="4389120" cy="640080"/>
          </a:xfrm>
          <a:prstGeom prst="roundRect">
            <a:avLst>
              <a:gd name="adj" fmla="val 11429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5742432" y="3267733"/>
            <a:ext cx="405993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says: “Here is the real work of add.”</a:t>
            </a:r>
          </a:p>
        </p:txBody>
      </p:sp>
      <p:sp>
        <p:nvSpPr>
          <p:cNvPr id="11" name="Shape 9"/>
          <p:cNvSpPr/>
          <p:nvPr/>
        </p:nvSpPr>
        <p:spPr>
          <a:xfrm>
            <a:off x="850392" y="3880381"/>
            <a:ext cx="9784080" cy="822960"/>
          </a:xfrm>
          <a:prstGeom prst="roundRect">
            <a:avLst>
              <a:gd name="adj" fmla="val 8889"/>
            </a:avLst>
          </a:prstGeom>
          <a:solidFill>
            <a:srgbClr val="FFF7CC"/>
          </a:solidFill>
          <a:ln w="12700">
            <a:solidFill>
              <a:srgbClr val="D7C76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26345" y="4032227"/>
            <a:ext cx="945489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Important beginner rule: semicolon after declaration ✅  |  no semicolon after function header before { ❌</a:t>
            </a:r>
            <a:endParaRPr lang="en-US" sz="16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914400" y="4776493"/>
            <a:ext cx="9784080" cy="1578587"/>
          </a:xfrm>
          <a:prstGeom prst="rect">
            <a:avLst/>
          </a:prstGeom>
          <a:solidFill>
            <a:srgbClr val="FFFFFF"/>
          </a:solidFill>
          <a:ln>
            <a:solidFill>
              <a:srgbClr val="DCCB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int add(int a, int b);   // declaration
2 
3 int add(int a, int b)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{
5     return a + b;
6 }</a:t>
            </a:r>
            <a:endParaRPr lang="en-US" sz="15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is a return type?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Before writing a function, answer: “What will this function give back?”</a:t>
            </a:r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1801368"/>
            <a:ext cx="2093976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 add(...)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returns a number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11880" y="1691640"/>
            <a:ext cx="3647902" cy="1051560"/>
          </a:xfrm>
          <a:prstGeom prst="roundRect">
            <a:avLst>
              <a:gd name="adj" fmla="val 6957"/>
            </a:avLst>
          </a:prstGeom>
          <a:solidFill>
            <a:srgbClr val="EAF1FF"/>
          </a:solidFill>
          <a:ln w="12700">
            <a:solidFill>
              <a:srgbClr val="B7C9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776472" y="1801368"/>
            <a:ext cx="2898648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char getGrade(...)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returns one character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22108" y="1746227"/>
            <a:ext cx="3890772" cy="1220862"/>
          </a:xfrm>
          <a:prstGeom prst="roundRect">
            <a:avLst>
              <a:gd name="adj" fmla="val 6957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8051292" y="1855955"/>
            <a:ext cx="3790188" cy="8321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void sayHello()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{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</a:t>
            </a:r>
            <a:r>
              <a:rPr lang="en-US" sz="20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printf</a:t>
            </a: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(“Hello”);</a:t>
            </a:r>
            <a:b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}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00545" y="2967089"/>
            <a:ext cx="100584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return type is written before the function name.</a:t>
            </a: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the function gives back a value, choose the matching type.</a:t>
            </a: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it only does an action and gives back nothing, use void.</a:t>
            </a:r>
          </a:p>
          <a:p>
            <a:pPr marL="177800" indent="-177800">
              <a:buSzPct val="10000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main() usually returns int because it reports program status.</a:t>
            </a:r>
          </a:p>
        </p:txBody>
      </p:sp>
      <p:sp>
        <p:nvSpPr>
          <p:cNvPr id="11" name="Text 9"/>
          <p:cNvSpPr/>
          <p:nvPr/>
        </p:nvSpPr>
        <p:spPr>
          <a:xfrm>
            <a:off x="914400" y="4447309"/>
            <a:ext cx="5760720" cy="1724891"/>
          </a:xfrm>
          <a:prstGeom prst="rect">
            <a:avLst/>
          </a:prstGeom>
          <a:solidFill>
            <a:srgbClr val="FFFFFF"/>
          </a:solidFill>
          <a:ln>
            <a:solidFill>
              <a:srgbClr val="DCCB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int multiply(int a, int b) {
2     return a * b;
3 }
4 
5 void greet() {
6     printf("Hello");
7 }</a:t>
            </a:r>
            <a:endParaRPr lang="en-US" sz="15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Where do semicolons and curly braces belong?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68680" y="14173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Think of it like this: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FFF7CC"/>
          </a:solidFill>
          <a:ln w="12700">
            <a:solidFill>
              <a:srgbClr val="D7C76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1938528"/>
            <a:ext cx="21396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Semicolon ;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ends one instruction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2700">
            <a:solidFill>
              <a:srgbClr val="B7C9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822192" y="1938528"/>
            <a:ext cx="259689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Curly braces { }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make a block / room of code</a:t>
            </a:r>
            <a:endParaRPr lang="en-US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903720" y="1828800"/>
            <a:ext cx="2743200" cy="1097280"/>
          </a:xfrm>
          <a:prstGeom prst="roundRect">
            <a:avLst>
              <a:gd name="adj" fmla="val 6667"/>
            </a:avLst>
          </a:prstGeom>
          <a:solidFill>
            <a:srgbClr val="FFF0F0"/>
          </a:solidFill>
          <a:ln w="12700">
            <a:solidFill>
              <a:srgbClr val="E9B7B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068312" y="1938528"/>
            <a:ext cx="241401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Function header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should be followed by {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not by ;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6675120" cy="2560320"/>
          </a:xfrm>
          <a:prstGeom prst="rect">
            <a:avLst/>
          </a:prstGeom>
          <a:solidFill>
            <a:srgbClr val="FFFFFF"/>
          </a:solidFill>
          <a:ln>
            <a:solidFill>
              <a:srgbClr val="DCCB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printf("Hi");          // ; ends a statement
2 
3 if (x &gt; 0) {           // braces make a block
4     printf("Yes");
5 }
6 
7 int add(int a, int b) {
8     return a + b;
9 }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365760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19872" y="3767328"/>
            <a:ext cx="2871216" cy="11521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Beginner mistake: placing braces “wherever they want”. Better rule: braces open and close a meaningful block.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What does #include really mean?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include does not mean “import all variables and all private details.”</a:t>
            </a:r>
          </a:p>
        </p:txBody>
      </p:sp>
      <p:sp>
        <p:nvSpPr>
          <p:cNvPr id="4" name="Shape 2"/>
          <p:cNvSpPr/>
          <p:nvPr/>
        </p:nvSpPr>
        <p:spPr>
          <a:xfrm>
            <a:off x="914400" y="1600200"/>
            <a:ext cx="480060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2700">
            <a:solidFill>
              <a:srgbClr val="B7C9F0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1709928"/>
            <a:ext cx="447141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#include "math_tools.h" means: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“Please show me the declarations inside this header.”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989320" y="1600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153912" y="1709928"/>
            <a:ext cx="4425696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mainly helps the compiler know: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function names, parameter lists, and return types.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48056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CCB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// math_tools.h
2 int add(int a, int b);
3 
4 // main.c
5 #include "math_tools.h"
6 int result = add(4, 5);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5760720" y="3017520"/>
            <a:ext cx="49377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include gives visibility to declarations.</a:t>
            </a:r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include does not automatically give access to local variables inside another function.</a:t>
            </a:r>
          </a:p>
          <a:p>
            <a:pPr marL="177800" indent="-177800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include is about “knowing what exists”, not “owning everything”.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Very important concept: scope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Scope answers: “Where can this variable be seen and used?”</a:t>
            </a:r>
          </a:p>
        </p:txBody>
      </p:sp>
      <p:sp>
        <p:nvSpPr>
          <p:cNvPr id="4" name="Text 2"/>
          <p:cNvSpPr/>
          <p:nvPr/>
        </p:nvSpPr>
        <p:spPr>
          <a:xfrm>
            <a:off x="868680" y="1554480"/>
            <a:ext cx="4114800" cy="2377440"/>
          </a:xfrm>
          <a:prstGeom prst="rect">
            <a:avLst/>
          </a:prstGeom>
          <a:solidFill>
            <a:srgbClr val="FFF7F7"/>
          </a:solidFill>
          <a:ln>
            <a:solidFill>
              <a:srgbClr val="E5B0B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void funA() {
2     int marks = 95; 
3 }
4 
5 void XYZ() {
6     printf("%d", marks); // wrong
7 }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4160520"/>
            <a:ext cx="3520440" cy="640080"/>
          </a:xfrm>
          <a:prstGeom prst="roundRect">
            <a:avLst>
              <a:gd name="adj" fmla="val 11429"/>
            </a:avLst>
          </a:prstGeom>
          <a:solidFill>
            <a:srgbClr val="FFF0F0"/>
          </a:solidFill>
          <a:ln w="12700">
            <a:solidFill>
              <a:srgbClr val="E9B7B7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1261872" y="4270248"/>
            <a:ext cx="3191256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marks lives only inside funA()</a:t>
            </a:r>
            <a:endParaRPr lang="en-US" sz="17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1444752"/>
            <a:ext cx="50292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local variable belongs only to the block where it is created.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Another function cannot use it directly.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Including a header does not break scope rules.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two functions need data, pass it as a parameter or return it.</a:t>
            </a:r>
          </a:p>
        </p:txBody>
      </p:sp>
      <p:sp>
        <p:nvSpPr>
          <p:cNvPr id="8" name="Text 6"/>
          <p:cNvSpPr/>
          <p:nvPr/>
        </p:nvSpPr>
        <p:spPr>
          <a:xfrm>
            <a:off x="5486400" y="3931920"/>
            <a:ext cx="4754880" cy="2194560"/>
          </a:xfrm>
          <a:prstGeom prst="rect">
            <a:avLst/>
          </a:prstGeom>
          <a:solidFill>
            <a:srgbClr val="F6FFF8"/>
          </a:solidFill>
          <a:ln>
            <a:solidFill>
              <a:srgbClr val="A7D8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int getMarks() {
2     int marks = 95;
3     return marks;
4 }
5 
6 int main() {
7     int x = getMarks();
8 }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Should students write stdio.h at the top every time?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Better goal: include headers because you need their tools, not by blind habit.</a:t>
            </a:r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3931920" cy="822960"/>
          </a:xfrm>
          <a:prstGeom prst="roundRect">
            <a:avLst>
              <a:gd name="adj" fmla="val 8889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78992" y="1847088"/>
            <a:ext cx="360273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you use printf or scanf → include &lt;stdio.h&gt;</a:t>
            </a:r>
            <a:endParaRPr lang="en-US" sz="1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120640" y="1737360"/>
            <a:ext cx="5669280" cy="822960"/>
          </a:xfrm>
          <a:prstGeom prst="roundRect">
            <a:avLst>
              <a:gd name="adj" fmla="val 8889"/>
            </a:avLst>
          </a:prstGeom>
          <a:solidFill>
            <a:srgbClr val="FFF7CC"/>
          </a:solidFill>
          <a:ln w="12700">
            <a:solidFill>
              <a:srgbClr val="D7C76E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285232" y="1847088"/>
            <a:ext cx="534009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If you do not use them in that file → do not include it just “because everybody does”</a:t>
            </a:r>
            <a:endParaRPr lang="en-US" sz="17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4918364" cy="3059084"/>
          </a:xfrm>
          <a:prstGeom prst="rect">
            <a:avLst/>
          </a:prstGeom>
          <a:solidFill>
            <a:srgbClr val="FFFFFF"/>
          </a:solidFill>
          <a:ln>
            <a:solidFill>
              <a:srgbClr val="DCCB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// okay
 2 #include &lt;stdio.h&gt;
 3 int main() {
 4     printf("Hi");
 5     return 0;
 6 }
 7 
 8 // also okay
 9 int add(int a, int b) {
10     return a + b;
11 }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035040" y="3108960"/>
            <a:ext cx="45720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header is a tool request.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it when that file needs the tool.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helps students understand why the line is there.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clean beginner structure they can copy</a:t>
            </a:r>
            <a:endParaRPr 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571500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CBB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3 
 4 // </a:t>
            </a:r>
            <a:r>
              <a:rPr lang="en-US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mytools.h</a:t>
            </a: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
 6 int add(int a, int b) {
 7     return a + b;
 8 }
 9 
10 // main.c
11 #include &lt;stdio.h&gt;
12 #include "mytools.h"
13 int main() {
14     printf("%d", add(2, 3));
15     return 0;
16 }</a:t>
            </a:r>
            <a:endParaRPr lang="en-US" sz="152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812280" y="1828800"/>
            <a:ext cx="4389120" cy="2103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Header: tools only.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main.c</a:t>
            </a: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starts the program and uses the functions.</a:t>
            </a:r>
          </a:p>
          <a:p>
            <a:pPr marL="177800" indent="-177800">
              <a:buSzPct val="100000"/>
              <a:buChar char="•"/>
            </a:pPr>
            <a:r>
              <a:rPr lang="en-US" sz="19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This one example fixes many beginner mistakes at once.</a:t>
            </a:r>
          </a:p>
        </p:txBody>
      </p:sp>
      <p:sp>
        <p:nvSpPr>
          <p:cNvPr id="5" name="Shape 3"/>
          <p:cNvSpPr/>
          <p:nvPr/>
        </p:nvSpPr>
        <p:spPr>
          <a:xfrm>
            <a:off x="6812280" y="4389120"/>
            <a:ext cx="4434840" cy="109728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2700">
            <a:solidFill>
              <a:srgbClr val="E9B37A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976872" y="4498848"/>
            <a:ext cx="4105656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Also teach this missing point: one project can have multiple .c files, but usually only one main() for one executable program.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fld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F17"/>
                </a:solidFill>
              </a:rPr>
              <a:t>Teacher checklist: what to reinforce again and again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600200"/>
            <a:ext cx="1033272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A .h file is for tools file</a:t>
            </a:r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main() goes in a .c file.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function definition starts a block with {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Return type tells what comes back from the function.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include lets us use declarations, not local variables from another function.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Local variable scope stays inside its own block.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Only include &lt;stdio.h&gt; in files that need printf/scanf.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Braces open and close meaningful blocks; they are not decoration.</a:t>
            </a:r>
            <a:endParaRPr lang="en-US" sz="1720" dirty="0"/>
          </a:p>
          <a:p>
            <a:pPr marL="177800" indent="-177800">
              <a:buSzPct val="100000"/>
              <a:buChar char="•"/>
            </a:pPr>
            <a:r>
              <a:rPr lang="en-US" sz="1720" dirty="0">
                <a:solidFill>
                  <a:srgbClr val="2A1F17"/>
                </a:solidFill>
              </a:rPr>
              <a:t>Pass values through parameters or return values instead of “trying to grab” another function’s local variable.</a:t>
            </a:r>
            <a:endParaRPr lang="en-US" sz="1720" dirty="0"/>
          </a:p>
        </p:txBody>
      </p:sp>
      <p:sp>
        <p:nvSpPr>
          <p:cNvPr id="4" name="Shape 2"/>
          <p:cNvSpPr/>
          <p:nvPr/>
        </p:nvSpPr>
        <p:spPr>
          <a:xfrm>
            <a:off x="914400" y="580644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EAF7F1"/>
          </a:solidFill>
          <a:ln w="12700">
            <a:solidFill>
              <a:srgbClr val="9FD3B8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8992" y="5916168"/>
            <a:ext cx="7900416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A1F17"/>
                </a:solidFill>
              </a:rPr>
              <a:t>If students deeply understand these 10 points, their later learning becomes much calmer and cleaner 😊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37376"/>
            <a:ext cx="3657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6B52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1393</TotalTime>
  <Words>1548</Words>
  <Application>Microsoft Office PowerPoint</Application>
  <PresentationFormat>Widescreen</PresentationFormat>
  <Paragraphs>144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Beginner Bridge Lesson</dc:title>
  <dc:subject>C language beginner misconceptions and file/function basics</dc:subject>
  <dc:creator>OpenAI</dc:creator>
  <cp:lastModifiedBy>Chinnam, Nagendra</cp:lastModifiedBy>
  <cp:revision>30</cp:revision>
  <dcterms:created xsi:type="dcterms:W3CDTF">2026-04-08T02:34:30Z</dcterms:created>
  <dcterms:modified xsi:type="dcterms:W3CDTF">2026-04-09T01:54:03Z</dcterms:modified>
</cp:coreProperties>
</file>